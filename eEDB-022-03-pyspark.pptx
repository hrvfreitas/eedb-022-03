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27432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73936" y="27432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32304" y="27432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90672" y="27432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49040" y="27432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07408" y="27432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65776" y="27432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24144" y="27432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82512" y="27432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40880" y="27432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99248" y="27432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57616" y="27432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015984" y="27432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74352" y="27432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332720" y="27432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91088" y="27432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649456" y="27432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109728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15568" y="109728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773936" y="109728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432304" y="109728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90672" y="109728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49040" y="109728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07408" y="109728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65776" y="109728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724144" y="109728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82512" y="109728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40880" y="109728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699248" y="109728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357616" y="109728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015984" y="109728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674352" y="109728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332720" y="109728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991088" y="109728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649456" y="109728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" y="192024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15568" y="192024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773936" y="192024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432304" y="192024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090672" y="192024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749040" y="192024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407408" y="192024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065776" y="192024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724144" y="192024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382512" y="192024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040880" y="192024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699248" y="192024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357616" y="192024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015984" y="192024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674352" y="192024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332720" y="192024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991088" y="192024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1649456" y="192024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57200" y="274320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115568" y="274320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773936" y="274320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432304" y="274320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090672" y="274320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749040" y="274320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407408" y="274320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065776" y="274320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724144" y="274320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382512" y="274320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040880" y="274320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699248" y="274320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357616" y="274320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015984" y="274320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674352" y="274320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0332720" y="274320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0991088" y="274320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1649456" y="274320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57200" y="356616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115568" y="356616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773936" y="356616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432304" y="356616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090672" y="356616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749040" y="356616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407408" y="356616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065776" y="356616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724144" y="356616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382512" y="356616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040880" y="356616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699248" y="356616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357616" y="356616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015984" y="356616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674352" y="356616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0332720" y="356616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0991088" y="356616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1649456" y="356616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457200" y="438912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115568" y="438912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773936" y="438912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2432304" y="438912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090672" y="438912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749040" y="438912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4407408" y="438912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5065776" y="438912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5724144" y="438912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6382512" y="438912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7040880" y="438912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7699248" y="438912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8357616" y="438912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9015984" y="438912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9674352" y="438912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0332720" y="438912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0991088" y="438912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11649456" y="438912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57200" y="521208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115568" y="521208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1773936" y="521208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2432304" y="521208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3090672" y="521208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3749040" y="521208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407408" y="521208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5065776" y="521208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5724144" y="521208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6382512" y="521208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7040880" y="521208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7699248" y="521208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8357616" y="521208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9015984" y="521208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9674352" y="521208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10332720" y="521208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10991088" y="521208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11649456" y="521208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57200" y="603504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1115568" y="603504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1773936" y="603504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2432304" y="603504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3090672" y="603504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3749040" y="603504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4407408" y="603504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5065776" y="603504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5724144" y="603504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6382512" y="603504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7040880" y="603504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7699248" y="603504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8357616" y="603504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9015984" y="603504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9674352" y="603504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10332720" y="603504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10991088" y="603504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11649456" y="6035040"/>
            <a:ext cx="54864" cy="5486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0" y="2377440"/>
            <a:ext cx="109728" cy="2194560"/>
          </a:xfrm>
          <a:prstGeom prst="rect">
            <a:avLst/>
          </a:prstGeom>
          <a:solidFill>
            <a:srgbClr val="E25A1C"/>
          </a:solidFill>
          <a:ln/>
        </p:spPr>
      </p:sp>
      <p:sp>
        <p:nvSpPr>
          <p:cNvPr id="148" name="Shape 146"/>
          <p:cNvSpPr/>
          <p:nvPr/>
        </p:nvSpPr>
        <p:spPr>
          <a:xfrm>
            <a:off x="457200" y="457200"/>
            <a:ext cx="2926080" cy="438912"/>
          </a:xfrm>
          <a:prstGeom prst="roundRect">
            <a:avLst>
              <a:gd name="adj" fmla="val 12500"/>
            </a:avLst>
          </a:prstGeom>
          <a:solidFill>
            <a:srgbClr val="E25A1C"/>
          </a:solidFill>
          <a:ln/>
        </p:spPr>
      </p:sp>
      <p:sp>
        <p:nvSpPr>
          <p:cNvPr id="149" name="Text 147"/>
          <p:cNvSpPr/>
          <p:nvPr/>
        </p:nvSpPr>
        <p:spPr>
          <a:xfrm>
            <a:off x="457200" y="45720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eEDB-022-03 · Atividade 3</a:t>
            </a:r>
            <a:endParaRPr lang="en-US" sz="1100" dirty="0"/>
          </a:p>
        </p:txBody>
      </p:sp>
      <p:sp>
        <p:nvSpPr>
          <p:cNvPr id="150" name="Text 148"/>
          <p:cNvSpPr/>
          <p:nvPr/>
        </p:nvSpPr>
        <p:spPr>
          <a:xfrm>
            <a:off x="457200" y="11430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+ Spark</a:t>
            </a:r>
            <a:endParaRPr lang="en-US" sz="5400" dirty="0"/>
          </a:p>
        </p:txBody>
      </p:sp>
      <p:sp>
        <p:nvSpPr>
          <p:cNvPr id="151" name="Text 149"/>
          <p:cNvSpPr/>
          <p:nvPr/>
        </p:nvSpPr>
        <p:spPr>
          <a:xfrm>
            <a:off x="457200" y="21031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Spark substituiu o Python puro</a:t>
            </a:r>
            <a:endParaRPr lang="en-US" sz="2400" dirty="0"/>
          </a:p>
        </p:txBody>
      </p:sp>
      <p:sp>
        <p:nvSpPr>
          <p:cNvPr id="152" name="Text 150"/>
          <p:cNvSpPr/>
          <p:nvPr/>
        </p:nvSpPr>
        <p:spPr>
          <a:xfrm>
            <a:off x="457200" y="27889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Ingestão e ETL com PySpark · RAW → Trusted → Delivery</a:t>
            </a:r>
            <a:endParaRPr lang="en-US" sz="1500" dirty="0"/>
          </a:p>
        </p:txBody>
      </p:sp>
      <p:sp>
        <p:nvSpPr>
          <p:cNvPr id="153" name="Text 151"/>
          <p:cNvSpPr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Antonio Daniel de Souza Linhares  ·  Yuri Alexandre Barbosa Rodrigues  ·  Hercules Ramos Veloso de Freitas</a:t>
            </a:r>
            <a:endParaRPr lang="en-US" sz="1200" dirty="0"/>
          </a:p>
        </p:txBody>
      </p:sp>
      <p:sp>
        <p:nvSpPr>
          <p:cNvPr id="154" name="Shape 152"/>
          <p:cNvSpPr/>
          <p:nvPr/>
        </p:nvSpPr>
        <p:spPr>
          <a:xfrm>
            <a:off x="10287000" y="2971800"/>
            <a:ext cx="1005840" cy="1005840"/>
          </a:xfrm>
          <a:prstGeom prst="ellipse">
            <a:avLst/>
          </a:prstGeom>
          <a:solidFill>
            <a:srgbClr val="E25A1C"/>
          </a:solidFill>
          <a:ln/>
        </p:spPr>
      </p:sp>
      <p:sp>
        <p:nvSpPr>
          <p:cNvPr id="155" name="Text 153"/>
          <p:cNvSpPr/>
          <p:nvPr/>
        </p:nvSpPr>
        <p:spPr>
          <a:xfrm>
            <a:off x="10287000" y="29718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64592"/>
            <a:ext cx="2560320" cy="347472"/>
          </a:xfrm>
          <a:prstGeom prst="roundRect">
            <a:avLst>
              <a:gd name="adj" fmla="val 13158"/>
            </a:avLst>
          </a:prstGeom>
          <a:solidFill>
            <a:srgbClr val="E74C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MOTIVAÇÃO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sair do Python puro?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5486400" cy="1828800"/>
          </a:xfrm>
          <a:prstGeom prst="roundRect">
            <a:avLst>
              <a:gd name="adj" fmla="val 4000"/>
            </a:avLst>
          </a:prstGeom>
          <a:solidFill>
            <a:srgbClr val="1A2540"/>
          </a:solidFill>
          <a:ln w="19050">
            <a:solidFill>
              <a:srgbClr val="334155"/>
            </a:solidFill>
            <a:prstDash val="solid"/>
          </a:ln>
          <a:effectLst>
            <a:outerShdw sx="100000" sy="100000" kx="0" ky="0" algn="bl" rotWithShape="0" blurRad="50800" dist="25400" dir="2700000">
              <a:srgbClr val="8B9CB6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883664"/>
            <a:ext cx="768096" cy="768096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883664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🐌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54480" y="190195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Execução serial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554480" y="2304288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processa tudo em uma única thread. Cada linha do DataFrame é tratada sequencialmente — sem aproveitamento de múltiplos núcleos.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0" y="1737360"/>
            <a:ext cx="5486400" cy="1828800"/>
          </a:xfrm>
          <a:prstGeom prst="roundRect">
            <a:avLst>
              <a:gd name="adj" fmla="val 4000"/>
            </a:avLst>
          </a:prstGeom>
          <a:solidFill>
            <a:srgbClr val="1A2540"/>
          </a:solidFill>
          <a:ln w="19050">
            <a:solidFill>
              <a:srgbClr val="334155"/>
            </a:solidFill>
            <a:prstDash val="solid"/>
          </a:ln>
          <a:effectLst>
            <a:outerShdw sx="100000" sy="100000" kx="0" ky="0" algn="bl" rotWithShape="0" blurRad="50800" dist="25400" dir="2700000">
              <a:srgbClr val="8B9CB6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83680" y="1883664"/>
            <a:ext cx="768096" cy="768096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1883664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💾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498080" y="190195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Memória limitada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498080" y="2304288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o dado precisa caber na RAM da máquina. Com 8 arquivos trimestrais + join com bancos + Glassdoor, o limite aparece rápido.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5486400" cy="1828800"/>
          </a:xfrm>
          <a:prstGeom prst="roundRect">
            <a:avLst>
              <a:gd name="adj" fmla="val 4000"/>
            </a:avLst>
          </a:prstGeom>
          <a:solidFill>
            <a:srgbClr val="1A2540"/>
          </a:solidFill>
          <a:ln w="19050">
            <a:solidFill>
              <a:srgbClr val="334155"/>
            </a:solidFill>
            <a:prstDash val="solid"/>
          </a:ln>
          <a:effectLst>
            <a:outerShdw sx="100000" sy="100000" kx="0" ky="0" algn="bl" rotWithShape="0" blurRad="50800" dist="25400" dir="2700000">
              <a:srgbClr val="8B9CB6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986784"/>
            <a:ext cx="768096" cy="768096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986784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🔁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54480" y="400507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Loop explícito no ETL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554480" y="4407408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matching iterava linha a linha em Python. Para ~50 k registros isso já era lento; em escala real, inviável.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0" y="3840480"/>
            <a:ext cx="5486400" cy="1828800"/>
          </a:xfrm>
          <a:prstGeom prst="roundRect">
            <a:avLst>
              <a:gd name="adj" fmla="val 4000"/>
            </a:avLst>
          </a:prstGeom>
          <a:solidFill>
            <a:srgbClr val="1A2540"/>
          </a:solidFill>
          <a:ln w="19050">
            <a:solidFill>
              <a:srgbClr val="334155"/>
            </a:solidFill>
            <a:prstDash val="solid"/>
          </a:ln>
          <a:effectLst>
            <a:outerShdw sx="100000" sy="100000" kx="0" ky="0" algn="bl" rotWithShape="0" blurRad="50800" dist="25400" dir="2700000">
              <a:srgbClr val="8B9CB6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83680" y="3986784"/>
            <a:ext cx="768096" cy="768096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0" y="3986784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498080" y="400507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escala horizontal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498080" y="4407408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Adicionar mais máquinas não ajuda — pandas não distribui. O único caminho era otimizar o código ou comprar hardware maior.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64592"/>
            <a:ext cx="2560320" cy="347472"/>
          </a:xfrm>
          <a:prstGeom prst="roundRect">
            <a:avLst>
              <a:gd name="adj" fmla="val 13158"/>
            </a:avLst>
          </a:prstGeom>
          <a:solidFill>
            <a:srgbClr val="E25A1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ARQUITETURA SPARK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o Spark funciona por dentro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FFF3E0"/>
          </a:solidFill>
          <a:ln w="19050">
            <a:solidFill>
              <a:srgbClr val="E25A1C"/>
            </a:solidFill>
            <a:prstDash val="solid"/>
          </a:ln>
          <a:effectLst>
            <a:outerShdw sx="100000" sy="100000" kx="0" ky="0" algn="bl" rotWithShape="0" blurRad="50800" dist="25400" dir="2700000">
              <a:srgbClr val="8B9CB6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3716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25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SparkContext · DAG Scheduler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Scheduler · SparkSession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703320" y="1874520"/>
            <a:ext cx="914400" cy="0"/>
          </a:xfrm>
          <a:prstGeom prst="line">
            <a:avLst/>
          </a:prstGeom>
          <a:noFill/>
          <a:ln w="25400">
            <a:solidFill>
              <a:srgbClr val="E25A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160020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 tarefas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663440" y="137160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E3F2FD"/>
          </a:solidFill>
          <a:ln w="19050">
            <a:solidFill>
              <a:srgbClr val="00C2FF"/>
            </a:solidFill>
            <a:prstDash val="solid"/>
          </a:ln>
          <a:effectLst>
            <a:outerShdw sx="100000" sy="100000" kx="0" ky="0" algn="bl" rotWithShape="0" blurRad="50800" dist="25400" dir="2700000">
              <a:srgbClr val="8B9CB6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1371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 Manager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63440" y="17830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local[*] · YARN · K8s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Mesos · Standalone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863840" y="1188720"/>
            <a:ext cx="3474720" cy="868680"/>
          </a:xfrm>
          <a:prstGeom prst="roundRect">
            <a:avLst>
              <a:gd name="adj" fmla="val 8421"/>
            </a:avLst>
          </a:prstGeom>
          <a:solidFill>
            <a:srgbClr val="EBF5FB"/>
          </a:solidFill>
          <a:ln w="19050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25400" dir="2700000">
              <a:srgbClr val="8B9CB6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863840" y="120700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Worker 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863840" y="15087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 · Task  |  Partição do RDD/DataFrame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406640" y="1627632"/>
            <a:ext cx="457200" cy="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63840" y="2194560"/>
            <a:ext cx="3474720" cy="868680"/>
          </a:xfrm>
          <a:prstGeom prst="roundRect">
            <a:avLst>
              <a:gd name="adj" fmla="val 8421"/>
            </a:avLst>
          </a:prstGeom>
          <a:solidFill>
            <a:srgbClr val="EBF5FB"/>
          </a:solidFill>
          <a:ln w="19050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25400" dir="2700000">
              <a:srgbClr val="8B9CB6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863840" y="221284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Worker 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 · Task  |  Partição do RDD/DataFrame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406640" y="2633472"/>
            <a:ext cx="457200" cy="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63840" y="3200400"/>
            <a:ext cx="3474720" cy="868680"/>
          </a:xfrm>
          <a:prstGeom prst="roundRect">
            <a:avLst>
              <a:gd name="adj" fmla="val 8421"/>
            </a:avLst>
          </a:prstGeom>
          <a:solidFill>
            <a:srgbClr val="EBF5FB"/>
          </a:solidFill>
          <a:ln w="19050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25400" dir="2700000">
              <a:srgbClr val="8B9CB6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863840" y="321868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Worker 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863840" y="35204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 · Task  |  Partição do RDD/DataFrame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406640" y="3639312"/>
            <a:ext cx="457200" cy="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4114800"/>
            <a:ext cx="112471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25400" dir="2700000">
              <a:srgbClr val="8B9CB6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0080" y="4206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abstração de dados no Spark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0080" y="4663440"/>
            <a:ext cx="3474720" cy="384048"/>
          </a:xfrm>
          <a:prstGeom prst="roundRect">
            <a:avLst>
              <a:gd name="adj" fmla="val 11905"/>
            </a:avLst>
          </a:prstGeom>
          <a:solidFill>
            <a:srgbClr val="E25A1C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66344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RDD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85800" y="507492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 Distributed Dataset — coleção imutável e distribuída de objetos. Abstração de baixo nível (Spark 1.x). Ainda existe por baixo de tudo.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389120" y="4663440"/>
            <a:ext cx="3474720" cy="384048"/>
          </a:xfrm>
          <a:prstGeom prst="roundRect">
            <a:avLst>
              <a:gd name="adj" fmla="val 11905"/>
            </a:avLst>
          </a:prstGeom>
          <a:solidFill>
            <a:srgbClr val="00C2FF"/>
          </a:solidFill>
          <a:ln/>
        </p:spPr>
      </p:sp>
      <p:sp>
        <p:nvSpPr>
          <p:cNvPr id="32" name="Text 30"/>
          <p:cNvSpPr/>
          <p:nvPr/>
        </p:nvSpPr>
        <p:spPr>
          <a:xfrm>
            <a:off x="4389120" y="466344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DataFrame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434840" y="507492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RDD com schema (linhas + colunas tipadas). Permite o Catalyst Optimizer otimizar o plano de execução. Equivalente ao pandas.DataFrame, mas distribuído.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138160" y="4663440"/>
            <a:ext cx="3474720" cy="384048"/>
          </a:xfrm>
          <a:prstGeom prst="roundRect">
            <a:avLst>
              <a:gd name="adj" fmla="val 11905"/>
            </a:avLst>
          </a:prstGeom>
          <a:solidFill>
            <a:srgbClr val="2ECC71"/>
          </a:solidFill>
          <a:ln/>
        </p:spPr>
      </p:sp>
      <p:sp>
        <p:nvSpPr>
          <p:cNvPr id="35" name="Text 33"/>
          <p:cNvSpPr/>
          <p:nvPr/>
        </p:nvSpPr>
        <p:spPr>
          <a:xfrm>
            <a:off x="8138160" y="466344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183880" y="507492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 com tipagem estática (Scala/Java). Em Python = DataFrame (Python é dinamicamente tipado).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64592"/>
            <a:ext cx="2560320" cy="347472"/>
          </a:xfrm>
          <a:prstGeom prst="roundRect">
            <a:avLst>
              <a:gd name="adj" fmla="val 13158"/>
            </a:avLst>
          </a:prstGeom>
          <a:solidFill>
            <a:srgbClr val="FFD43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PYSPARK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PySpark: Python falando com a JVM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303520" cy="566928"/>
          </a:xfrm>
          <a:prstGeom prst="rect">
            <a:avLst/>
          </a:prstGeom>
          <a:solidFill>
            <a:srgbClr val="FFD43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0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código Python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93392"/>
            <a:ext cx="5303520" cy="566928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993392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API (py4j gateway)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615184"/>
            <a:ext cx="5303520" cy="566928"/>
          </a:xfrm>
          <a:prstGeom prst="rect">
            <a:avLst/>
          </a:prstGeom>
          <a:solidFill>
            <a:srgbClr val="E25A1C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615184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Core (JVM / Scala)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236976"/>
            <a:ext cx="5303520" cy="5669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236976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JVM · Executors · Cluster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108960" y="3858768"/>
            <a:ext cx="0" cy="457200"/>
          </a:xfrm>
          <a:prstGeom prst="line">
            <a:avLst/>
          </a:prstGeom>
          <a:noFill/>
          <a:ln w="25400">
            <a:solidFill>
              <a:srgbClr val="E25A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51760" y="43434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 real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4572000"/>
            <a:ext cx="5303520" cy="6400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57200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(CPU · RAM · Disco · Rede)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0" y="1371600"/>
            <a:ext cx="548640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25400" dir="2700000">
              <a:srgbClr val="8B9CB6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0" y="14630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o py4j funciona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364224" y="1975104"/>
            <a:ext cx="402336" cy="402336"/>
          </a:xfrm>
          <a:prstGeom prst="ellipse">
            <a:avLst/>
          </a:prstGeom>
          <a:solidFill>
            <a:srgbClr val="E25A1C"/>
          </a:solidFill>
          <a:ln/>
        </p:spPr>
      </p:sp>
      <p:sp>
        <p:nvSpPr>
          <p:cNvPr id="21" name="Text 19"/>
          <p:cNvSpPr/>
          <p:nvPr/>
        </p:nvSpPr>
        <p:spPr>
          <a:xfrm>
            <a:off x="6364224" y="19751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🔌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903720" y="1984248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você escreve df.filter(...) em Python, o py4j serializa a chamada e a envia via socket para a JVM.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64224" y="2779776"/>
            <a:ext cx="402336" cy="402336"/>
          </a:xfrm>
          <a:prstGeom prst="ellipse">
            <a:avLst/>
          </a:prstGeom>
          <a:solidFill>
            <a:srgbClr val="00C2FF"/>
          </a:solidFill>
          <a:ln/>
        </p:spPr>
      </p:sp>
      <p:sp>
        <p:nvSpPr>
          <p:cNvPr id="24" name="Text 22"/>
          <p:cNvSpPr/>
          <p:nvPr/>
        </p:nvSpPr>
        <p:spPr>
          <a:xfrm>
            <a:off x="6364224" y="27797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903720" y="2788920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JVM executa a operação real no Spark (Scala). O resultado (schema, plano, dados amostrados) volta ao Python pelo mesmo socket.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64224" y="3584448"/>
            <a:ext cx="402336" cy="402336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27" name="Text 25"/>
          <p:cNvSpPr/>
          <p:nvPr/>
        </p:nvSpPr>
        <p:spPr>
          <a:xfrm>
            <a:off x="6364224" y="3584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🚀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903720" y="3593592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dados em si NUNCA saem da JVM durante as transformações — só chegam ao Python quando você chama .collect(), .toPandas() ou .show().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64224" y="4389120"/>
            <a:ext cx="402336" cy="402336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30" name="Text 28"/>
          <p:cNvSpPr/>
          <p:nvPr/>
        </p:nvSpPr>
        <p:spPr>
          <a:xfrm>
            <a:off x="6364224" y="4389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903720" y="4398264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por isso que o Python não é o gargalo: ele só descreve o que fazer (DAG). Quem executa é a JVM distribuída.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64592"/>
            <a:ext cx="2560320" cy="347472"/>
          </a:xfrm>
          <a:prstGeom prst="roundRect">
            <a:avLst>
              <a:gd name="adj" fmla="val 13158"/>
            </a:avLst>
          </a:prstGeom>
          <a:solidFill>
            <a:srgbClr val="00C2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LAZY EVALUATION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Nada executa até você pedir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303520" cy="3474720"/>
          </a:xfrm>
          <a:prstGeom prst="roundRect">
            <a:avLst>
              <a:gd name="adj" fmla="val 2105"/>
            </a:avLst>
          </a:prstGeom>
          <a:solidFill>
            <a:srgbClr val="1A2540"/>
          </a:solidFill>
          <a:ln w="19050">
            <a:solidFill>
              <a:srgbClr val="334155"/>
            </a:solidFill>
            <a:prstDash val="solid"/>
          </a:ln>
          <a:effectLst>
            <a:outerShdw sx="100000" sy="100000" kx="0" ky="0" algn="bl" rotWithShape="0" blurRad="50800" dist="25400" dir="2700000">
              <a:srgbClr val="8B9CB6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41732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 Python + pandas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4937760" cy="2743200"/>
          </a:xfrm>
          <a:prstGeom prst="rect">
            <a:avLst/>
          </a:prstGeom>
          <a:solidFill>
            <a:srgbClr val="0D11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901952"/>
            <a:ext cx="4718304" cy="2596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pd.read_csv('reclamacoes.csv')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← executa AGORA, carrega tudo na RAM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df2 = df[df['indice'] &gt; 0]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← filtra AGORA, memória duplicada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df3 = df2.groupby('cnpj').mean()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← agrega AGORA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df3.to_csv('out.csv')  # escreve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26480" y="1371600"/>
            <a:ext cx="5577840" cy="3474720"/>
          </a:xfrm>
          <a:prstGeom prst="roundRect">
            <a:avLst>
              <a:gd name="adj" fmla="val 2105"/>
            </a:avLst>
          </a:prstGeom>
          <a:solidFill>
            <a:srgbClr val="1A2540"/>
          </a:solidFill>
          <a:ln w="19050">
            <a:solidFill>
              <a:srgbClr val="334155"/>
            </a:solidFill>
            <a:prstDash val="solid"/>
          </a:ln>
          <a:effectLst>
            <a:outerShdw sx="100000" sy="100000" kx="0" ky="0" algn="bl" rotWithShape="0" blurRad="50800" dist="25400" dir="2700000">
              <a:srgbClr val="8B9CB6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9360" y="141732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5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PySpark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1828800"/>
            <a:ext cx="5212080" cy="2743200"/>
          </a:xfrm>
          <a:prstGeom prst="rect">
            <a:avLst/>
          </a:prstGeom>
          <a:solidFill>
            <a:srgbClr val="0D11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19088" y="1901952"/>
            <a:ext cx="4992624" cy="2596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spark.read.csv('reclamacoes.csv')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← NÃO executa. Só registra no DAG.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df2 = df.filter(col('indice') &gt; 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← NÃO executa. Adiciona nó ao DAG.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df3 = df2.groupBy('cnpj').mean()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← NÃO executa. DAG cresce.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df3.write.parquet('out/')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← ACTION! Agora o Spark otimiza e executa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4937760"/>
            <a:ext cx="11247120" cy="1645920"/>
          </a:xfrm>
          <a:prstGeom prst="rect">
            <a:avLst/>
          </a:prstGeom>
          <a:solidFill>
            <a:srgbClr val="12213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5010912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Transformations (lazy)  →  nenhum dado se move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5376672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.filter() · .select() · .join() · .groupBy() · .withColumn() · .dropDuplicates() · .unionByName()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0" y="501091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5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(eager)  →  disparam a execução do DAG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0" y="537667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.collect() · .count() · .show() · .write() · .toPandas()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574243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Catalyst Optimizer reordena, combina e elimina etapas antes de executar — o plano final é melhor que o que você escreveu.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64592"/>
            <a:ext cx="2560320" cy="347472"/>
          </a:xfrm>
          <a:prstGeom prst="roundRect">
            <a:avLst>
              <a:gd name="adj" fmla="val 13158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ARQUITETURA DE DADOS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Camadas do Pipeline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566160" cy="5303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0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📥  RAW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C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01_ingest_raw.py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212848"/>
            <a:ext cx="3566160" cy="1920240"/>
          </a:xfrm>
          <a:prstGeom prst="rect">
            <a:avLst/>
          </a:prstGeom>
          <a:solidFill>
            <a:srgbClr val="0D11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286000"/>
            <a:ext cx="3346704" cy="1773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spark.read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.option("header", True)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.option("sep", ";")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.option("encoding","ISO-8859-1")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.csv("Reclamações/*.csv")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6928" y="4270248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42062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tratamento — tudo como string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" y="4709160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464515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 pattern lê 8 arquivos de uma vez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6928" y="5148072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508406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input_file_name() rastreia a origem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6928" y="5586984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552297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Grava em Parquet + schema raw no Postgres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023360" y="2560320"/>
            <a:ext cx="256032" cy="0"/>
          </a:xfrm>
          <a:prstGeom prst="line">
            <a:avLst/>
          </a:prstGeom>
          <a:noFill/>
          <a:ln w="25400">
            <a:solidFill>
              <a:srgbClr val="E25A1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77640" y="242316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5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70832" y="1371600"/>
            <a:ext cx="3566160" cy="530352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22" name="Text 20"/>
          <p:cNvSpPr/>
          <p:nvPr/>
        </p:nvSpPr>
        <p:spPr>
          <a:xfrm>
            <a:off x="4370832" y="1371600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🔧  TRUSTED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370832" y="19202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C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02_trusted.py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370832" y="2212848"/>
            <a:ext cx="3566160" cy="1920240"/>
          </a:xfrm>
          <a:prstGeom prst="rect">
            <a:avLst/>
          </a:prstGeom>
          <a:solidFill>
            <a:srgbClr val="0D11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80560" y="2286000"/>
            <a:ext cx="3346704" cy="1773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df.withColumn("cnpj",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lpad(regexp_replace(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col("CNPJ_IF"), r"[^0-9]",""),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8, "0"))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.withColumn("indice",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regexp_replace(col("Índice"),",",".").cast("double"))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.dropDuplicates(["cnpj"])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480560" y="4270248"/>
            <a:ext cx="109728" cy="109728"/>
          </a:xfrm>
          <a:prstGeom prst="ellipse">
            <a:avLst/>
          </a:prstGeom>
          <a:solidFill>
            <a:srgbClr val="00C2FF"/>
          </a:solidFill>
          <a:ln/>
        </p:spPr>
      </p:sp>
      <p:sp>
        <p:nvSpPr>
          <p:cNvPr id="27" name="Text 25"/>
          <p:cNvSpPr/>
          <p:nvPr/>
        </p:nvSpPr>
        <p:spPr>
          <a:xfrm>
            <a:off x="4663440" y="42062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Tipagem via cast() e regexp_replace()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480560" y="4709160"/>
            <a:ext cx="109728" cy="109728"/>
          </a:xfrm>
          <a:prstGeom prst="ellipse">
            <a:avLst/>
          </a:prstGeom>
          <a:solidFill>
            <a:srgbClr val="00C2FF"/>
          </a:solidFill>
          <a:ln/>
        </p:spPr>
      </p:sp>
      <p:sp>
        <p:nvSpPr>
          <p:cNvPr id="29" name="Text 27"/>
          <p:cNvSpPr/>
          <p:nvPr/>
        </p:nvSpPr>
        <p:spPr>
          <a:xfrm>
            <a:off x="4663440" y="464515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CNPJ raiz normalizado com lpad()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480560" y="5148072"/>
            <a:ext cx="109728" cy="109728"/>
          </a:xfrm>
          <a:prstGeom prst="ellipse">
            <a:avLst/>
          </a:prstGeom>
          <a:solidFill>
            <a:srgbClr val="00C2FF"/>
          </a:solidFill>
          <a:ln/>
        </p:spPr>
      </p:sp>
      <p:sp>
        <p:nvSpPr>
          <p:cNvPr id="31" name="Text 29"/>
          <p:cNvSpPr/>
          <p:nvPr/>
        </p:nvSpPr>
        <p:spPr>
          <a:xfrm>
            <a:off x="4663440" y="508406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 com Window + row_number()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480560" y="5586984"/>
            <a:ext cx="109728" cy="109728"/>
          </a:xfrm>
          <a:prstGeom prst="ellipse">
            <a:avLst/>
          </a:prstGeom>
          <a:solidFill>
            <a:srgbClr val="00C2FF"/>
          </a:solidFill>
          <a:ln/>
        </p:spPr>
      </p:sp>
      <p:sp>
        <p:nvSpPr>
          <p:cNvPr id="33" name="Text 31"/>
          <p:cNvSpPr/>
          <p:nvPr/>
        </p:nvSpPr>
        <p:spPr>
          <a:xfrm>
            <a:off x="4663440" y="552297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Fuzzy/Splink via mapInPandas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936992" y="2560320"/>
            <a:ext cx="256032" cy="0"/>
          </a:xfrm>
          <a:prstGeom prst="line">
            <a:avLst/>
          </a:prstGeom>
          <a:noFill/>
          <a:ln w="25400">
            <a:solidFill>
              <a:srgbClr val="E25A1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91272" y="242316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5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284464" y="1371600"/>
            <a:ext cx="3566160" cy="530352"/>
          </a:xfrm>
          <a:prstGeom prst="rect">
            <a:avLst/>
          </a:prstGeom>
          <a:solidFill>
            <a:srgbClr val="E25A1C"/>
          </a:solidFill>
          <a:ln/>
        </p:spPr>
      </p:sp>
      <p:sp>
        <p:nvSpPr>
          <p:cNvPr id="37" name="Text 35"/>
          <p:cNvSpPr/>
          <p:nvPr/>
        </p:nvSpPr>
        <p:spPr>
          <a:xfrm>
            <a:off x="8284464" y="1371600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🚀  DELIVERY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284464" y="19202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C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03_delivery.py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284464" y="2212848"/>
            <a:ext cx="3566160" cy="1920240"/>
          </a:xfrm>
          <a:prstGeom prst="rect">
            <a:avLst/>
          </a:prstGeom>
          <a:solidFill>
            <a:srgbClr val="0D11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394192" y="2286000"/>
            <a:ext cx="3346704" cy="1773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recl.join(bancos, on="cnpj",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how="inner")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.join(empregados, on="cnpj",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how="left")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.withColumn(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"possui_glassdoor",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col("origem_arquivo").isNotNull())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394192" y="4270248"/>
            <a:ext cx="109728" cy="109728"/>
          </a:xfrm>
          <a:prstGeom prst="ellipse">
            <a:avLst/>
          </a:prstGeom>
          <a:solidFill>
            <a:srgbClr val="E25A1C"/>
          </a:solidFill>
          <a:ln/>
        </p:spPr>
      </p:sp>
      <p:sp>
        <p:nvSpPr>
          <p:cNvPr id="42" name="Text 40"/>
          <p:cNvSpPr/>
          <p:nvPr/>
        </p:nvSpPr>
        <p:spPr>
          <a:xfrm>
            <a:off x="8577072" y="42062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por CNPJ raiz (chave integração)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8394192" y="4709160"/>
            <a:ext cx="109728" cy="109728"/>
          </a:xfrm>
          <a:prstGeom prst="ellipse">
            <a:avLst/>
          </a:prstGeom>
          <a:solidFill>
            <a:srgbClr val="E25A1C"/>
          </a:solidFill>
          <a:ln/>
        </p:spPr>
      </p:sp>
      <p:sp>
        <p:nvSpPr>
          <p:cNvPr id="44" name="Text 42"/>
          <p:cNvSpPr/>
          <p:nvPr/>
        </p:nvSpPr>
        <p:spPr>
          <a:xfrm>
            <a:off x="8577072" y="464515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 com bancos (obrigatório)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8394192" y="5148072"/>
            <a:ext cx="109728" cy="109728"/>
          </a:xfrm>
          <a:prstGeom prst="ellipse">
            <a:avLst/>
          </a:prstGeom>
          <a:solidFill>
            <a:srgbClr val="E25A1C"/>
          </a:solidFill>
          <a:ln/>
        </p:spPr>
      </p:sp>
      <p:sp>
        <p:nvSpPr>
          <p:cNvPr id="46" name="Text 44"/>
          <p:cNvSpPr/>
          <p:nvPr/>
        </p:nvSpPr>
        <p:spPr>
          <a:xfrm>
            <a:off x="8577072" y="508406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 com Glassdoor (opcional)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8394192" y="5586984"/>
            <a:ext cx="109728" cy="109728"/>
          </a:xfrm>
          <a:prstGeom prst="ellipse">
            <a:avLst/>
          </a:prstGeom>
          <a:solidFill>
            <a:srgbClr val="E25A1C"/>
          </a:solidFill>
          <a:ln/>
        </p:spPr>
      </p:sp>
      <p:sp>
        <p:nvSpPr>
          <p:cNvPr id="48" name="Text 46"/>
          <p:cNvSpPr/>
          <p:nvPr/>
        </p:nvSpPr>
        <p:spPr>
          <a:xfrm>
            <a:off x="8577072" y="552297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final no Postgres + Parquet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57200" y="6172200"/>
            <a:ext cx="11247120" cy="530352"/>
          </a:xfrm>
          <a:prstGeom prst="rect">
            <a:avLst/>
          </a:prstGeom>
          <a:solidFill>
            <a:srgbClr val="E8F4F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6172200"/>
            <a:ext cx="11247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Todas as camadas gravam em Parquet (colunar, comprimido) no disco  +  tabela no PostgreSQL (schema separado por camada)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64592"/>
            <a:ext cx="2560320" cy="347472"/>
          </a:xfrm>
          <a:prstGeom prst="roundRect">
            <a:avLst>
              <a:gd name="adj" fmla="val 13158"/>
            </a:avLst>
          </a:prstGeom>
          <a:solidFill>
            <a:srgbClr val="E25A1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SPARKSESSION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SparkSession — o início de tudo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486400" cy="3108960"/>
          </a:xfrm>
          <a:prstGeom prst="rect">
            <a:avLst/>
          </a:prstGeom>
          <a:solidFill>
            <a:srgbClr val="0D11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44752"/>
            <a:ext cx="5266944" cy="2962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pyspark.sql import SparkSession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 =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SparkSession.builder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.appName("eEDB-022-03")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.config("spark.jars.packages",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"org.postgresql:postgresql:42.7.4")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.config("spark.sql.session.timeZone", "UTC")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.master("local[*]")   # usa todos os núcleos da máquina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.getOrCreate()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17920" y="1371600"/>
            <a:ext cx="5486400" cy="5029200"/>
          </a:xfrm>
          <a:prstGeom prst="roundRect">
            <a:avLst>
              <a:gd name="adj" fmla="val 1455"/>
            </a:avLst>
          </a:prstGeom>
          <a:solidFill>
            <a:srgbClr val="1A2540"/>
          </a:solidFill>
          <a:ln w="19050">
            <a:solidFill>
              <a:srgbClr val="334155"/>
            </a:solidFill>
            <a:prstDash val="solid"/>
          </a:ln>
          <a:effectLst>
            <a:outerShdw sx="100000" sy="100000" kx="0" ky="0" algn="bl" rotWithShape="0" blurRad="50800" dist="25400" dir="2700000">
              <a:srgbClr val="8B9CB6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0" y="14630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cada linha faz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0" y="1965960"/>
            <a:ext cx="2148840" cy="347472"/>
          </a:xfrm>
          <a:prstGeom prst="roundRect">
            <a:avLst>
              <a:gd name="adj" fmla="val 10526"/>
            </a:avLst>
          </a:prstGeom>
          <a:solidFill>
            <a:srgbClr val="E25A1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96596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.appName(...)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641080" y="192024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da aplicação no Spark UI (http://localhost:4040). Facilita monitorar jobs, stages e tasks.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0" y="3017520"/>
            <a:ext cx="2148840" cy="347472"/>
          </a:xfrm>
          <a:prstGeom prst="roundRect">
            <a:avLst>
              <a:gd name="adj" fmla="val 10526"/>
            </a:avLst>
          </a:prstGeom>
          <a:solidFill>
            <a:srgbClr val="E25A1C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301752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.config("spark.jars.packages",...)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641080" y="29718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 o driver JDBC do PostgreSQL do Maven Central automaticamente — sem precisar copiar .jar manualmente.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0" y="4069080"/>
            <a:ext cx="2148840" cy="347472"/>
          </a:xfrm>
          <a:prstGeom prst="roundRect">
            <a:avLst>
              <a:gd name="adj" fmla="val 10526"/>
            </a:avLst>
          </a:prstGeom>
          <a:solidFill>
            <a:srgbClr val="E25A1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406908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.master("local[*]")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641080" y="402336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 o Spark localmente usando todos os núcleos da CPU. Em cluster, seria "yarn" ou "k8s://...".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0" y="5120640"/>
            <a:ext cx="2148840" cy="347472"/>
          </a:xfrm>
          <a:prstGeom prst="roundRect">
            <a:avLst>
              <a:gd name="adj" fmla="val 10526"/>
            </a:avLst>
          </a:prstGeom>
          <a:solidFill>
            <a:srgbClr val="E25A1C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512064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.getOrCreate()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641080" y="507492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Retorna a SparkSession existente (se já criada) ou cria uma nova. Evita múltiplas instâncias no mesmo processo.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4572000"/>
            <a:ext cx="5486400" cy="1828800"/>
          </a:xfrm>
          <a:prstGeom prst="roundRect">
            <a:avLst>
              <a:gd name="adj" fmla="val 4000"/>
            </a:avLst>
          </a:prstGeom>
          <a:solidFill>
            <a:srgbClr val="12213A"/>
          </a:solidFill>
          <a:ln w="19050">
            <a:solidFill>
              <a:srgbClr val="E25A1C"/>
            </a:solidFill>
            <a:prstDash val="solid"/>
          </a:ln>
          <a:effectLst>
            <a:outerShdw sx="100000" sy="100000" kx="0" ky="0" algn="bl" rotWithShape="0" blurRad="50800" dist="25400" dir="2700000">
              <a:srgbClr val="8B9CB6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58368" y="5120640"/>
            <a:ext cx="694944" cy="694944"/>
          </a:xfrm>
          <a:prstGeom prst="ellipse">
            <a:avLst/>
          </a:prstGeom>
          <a:solidFill>
            <a:srgbClr val="E25A1C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" y="512064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🖥️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463040" y="461772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5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Spark UI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463040" y="502920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Disponível em http://localhost:4040 durante a execução.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Mostra: DAG de stages, tasks por executor, tempo de cada etapa, shuffle read/write, e plano de execução do Catalyst.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64592"/>
            <a:ext cx="2560320" cy="347472"/>
          </a:xfrm>
          <a:prstGeom prst="roundRect">
            <a:avLst>
              <a:gd name="adj" fmla="val 13158"/>
            </a:avLst>
          </a:prstGeom>
          <a:solidFill>
            <a:srgbClr val="00C2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DATAFRAME API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mesma ideia, escala diferente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25400" dir="2700000">
              <a:srgbClr val="8B9CB6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00200"/>
            <a:ext cx="5486400" cy="32918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60020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Ler CSV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0352" y="19659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2221992"/>
            <a:ext cx="2468880" cy="987552"/>
          </a:xfrm>
          <a:prstGeom prst="rect">
            <a:avLst/>
          </a:prstGeom>
          <a:solidFill>
            <a:srgbClr val="0D11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295144"/>
            <a:ext cx="2249424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pd.read_csv(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"reclamacoes.csv",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sep=";", encoding="latin1"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91840" y="19659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5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0" y="2221992"/>
            <a:ext cx="2633472" cy="987552"/>
          </a:xfrm>
          <a:prstGeom prst="rect">
            <a:avLst/>
          </a:prstGeom>
          <a:solidFill>
            <a:srgbClr val="0D11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0128" y="2295144"/>
            <a:ext cx="2414016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spark.read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.option("sep",";")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.option("encoding","ISO-8859-1")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.csv("Reclamações/*.csv")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0352" y="3264408"/>
            <a:ext cx="53400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Spark aceita glob e lê em paralelo; pandas carrega tudo na RAM.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00800" y="160020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25400" dir="2700000">
              <a:srgbClr val="8B9CB6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0" y="1600200"/>
            <a:ext cx="5486400" cy="32918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160020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Filtrar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73952" y="19659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473952" y="2221992"/>
            <a:ext cx="2468880" cy="987552"/>
          </a:xfrm>
          <a:prstGeom prst="rect">
            <a:avLst/>
          </a:prstGeom>
          <a:solidFill>
            <a:srgbClr val="0D11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2295144"/>
            <a:ext cx="2249424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df[df["indice"] &gt; 0]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235440" y="19659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5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144000" y="2221992"/>
            <a:ext cx="2633472" cy="987552"/>
          </a:xfrm>
          <a:prstGeom prst="rect">
            <a:avLst/>
          </a:prstGeom>
          <a:solidFill>
            <a:srgbClr val="0D11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53728" y="2295144"/>
            <a:ext cx="2414016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df.filter(col("indice") &gt; 0)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73952" y="3264408"/>
            <a:ext cx="53400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Syntaxe similar. Spark empurra o filtro para o storage (predicate pushdown em Parquet).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402336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25400" dir="2700000">
              <a:srgbClr val="8B9CB6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4023360"/>
            <a:ext cx="5486400" cy="32918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02336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Nova coluna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0352" y="43891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30352" y="4645152"/>
            <a:ext cx="2468880" cy="987552"/>
          </a:xfrm>
          <a:prstGeom prst="rect">
            <a:avLst/>
          </a:prstGeom>
          <a:solidFill>
            <a:srgbClr val="0D11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4718304"/>
            <a:ext cx="2249424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df["cnpj"] = df["CNPJ_IF"]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.str.replace(r"[^0-9]","")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.str[:8].str.zfill(8)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291840" y="43891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5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00400" y="4645152"/>
            <a:ext cx="2633472" cy="987552"/>
          </a:xfrm>
          <a:prstGeom prst="rect">
            <a:avLst/>
          </a:prstGeom>
          <a:solidFill>
            <a:srgbClr val="0D11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10128" y="4718304"/>
            <a:ext cx="2414016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df.withColumn("cnpj",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lpad(regexp_replace(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col("CNPJ_IF"),r"[^0-9]",""),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8,"0"))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30352" y="5687568"/>
            <a:ext cx="53400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Spark usa funções do pyspark.sql.functions — tudo convertido para código JVM otimizado.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400800" y="402336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25400" dir="2700000">
              <a:srgbClr val="8B9CB6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400800" y="4023360"/>
            <a:ext cx="5486400" cy="32918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0" y="402336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Deduplicar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473952" y="43891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473952" y="4645152"/>
            <a:ext cx="2468880" cy="987552"/>
          </a:xfrm>
          <a:prstGeom prst="rect">
            <a:avLst/>
          </a:prstGeom>
          <a:solidFill>
            <a:srgbClr val="0D11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3680" y="4718304"/>
            <a:ext cx="2249424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df.sort_values("prio")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.drop_duplicates("cnpj")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9235440" y="43891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5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9144000" y="4645152"/>
            <a:ext cx="2633472" cy="987552"/>
          </a:xfrm>
          <a:prstGeom prst="rect">
            <a:avLst/>
          </a:prstGeom>
          <a:solidFill>
            <a:srgbClr val="0D11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253728" y="4718304"/>
            <a:ext cx="2414016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(Window.partitionBy("cnpj")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.orderBy("prio"))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df.withColumn("rn",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row_number().over(w))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.filter(col("rn")==1)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473952" y="5687568"/>
            <a:ext cx="53400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Window functions no Spark rodam distribuídas — cada partição do cluster processa sua fatia.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64592"/>
            <a:ext cx="2560320" cy="347472"/>
          </a:xfrm>
          <a:prstGeom prst="roundRect">
            <a:avLst>
              <a:gd name="adj" fmla="val 13158"/>
            </a:avLst>
          </a:prstGeom>
          <a:solidFill>
            <a:srgbClr val="FFD43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FUZZY MATCHING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mapInPandas — Python dentro do Spark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a lógica é complexa demais para a API nativa, o Spark deixa você usar pandas — mas distribuído.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7223760" cy="4251960"/>
          </a:xfrm>
          <a:prstGeom prst="rect">
            <a:avLst/>
          </a:prstGeom>
          <a:solidFill>
            <a:srgbClr val="0D11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993392"/>
            <a:ext cx="7004304" cy="4105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broadcast: envia o dicionário de lookup para TODOS os workers (uma vez só)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candidatos_bc = spark.sparkContext.broadcast(bancos_lookup)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processar_particao(iterator):      # ← função Python pura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cand = candidatos_bc.value         # acessa o broadcast local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nomes = list(cand.keys())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pdf in iterator:               # pdf é um pandas.DataFrame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cnpjs = []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nome in pdf["nome_normalizado"]: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match = process.extractOne(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nome, nomes,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scorer=fuzz.token_sort_ratio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cnpjs.append(cand[match[0]] if match and match[1] &gt;= 88 else None)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pdf["cnpj_fuzzy"] = cnpjs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yield pdf                      # devolve pandas.DataFrame ao Spark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Spark divide o DataFrame em partições e chama processar_particao()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em cada worker — em paralelo. O motor de execução é o Spark.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 = df.mapInPandas(processar_particao, schema=out_schema)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863840" y="1920240"/>
            <a:ext cx="3931920" cy="4251960"/>
          </a:xfrm>
          <a:prstGeom prst="roundRect">
            <a:avLst>
              <a:gd name="adj" fmla="val 1860"/>
            </a:avLst>
          </a:prstGeom>
          <a:solidFill>
            <a:srgbClr val="1A2540"/>
          </a:solidFill>
          <a:ln w="19050">
            <a:solidFill>
              <a:srgbClr val="334155"/>
            </a:solidFill>
            <a:prstDash val="solid"/>
          </a:ln>
          <a:effectLst>
            <a:outerShdw sx="100000" sy="100000" kx="0" ky="0" algn="bl" rotWithShape="0" blurRad="50800" dist="25400" dir="2700000">
              <a:srgbClr val="8B9CB6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046720" y="20116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funciona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01584" y="2404872"/>
            <a:ext cx="402336" cy="402336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12" name="Text 10"/>
          <p:cNvSpPr/>
          <p:nvPr/>
        </p:nvSpPr>
        <p:spPr>
          <a:xfrm>
            <a:off x="8101584" y="2404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613648" y="242316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divide o DataFrame em N partições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01584" y="3136392"/>
            <a:ext cx="402336" cy="402336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15" name="Text 13"/>
          <p:cNvSpPr/>
          <p:nvPr/>
        </p:nvSpPr>
        <p:spPr>
          <a:xfrm>
            <a:off x="8101584" y="3136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613648" y="315468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partição vira um pandas.DataFrame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101584" y="3867912"/>
            <a:ext cx="402336" cy="402336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18" name="Text 16"/>
          <p:cNvSpPr/>
          <p:nvPr/>
        </p:nvSpPr>
        <p:spPr>
          <a:xfrm>
            <a:off x="8101584" y="3867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613648" y="388620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processar_particao() roda em paralelo em cada worker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101584" y="4599432"/>
            <a:ext cx="402336" cy="402336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21" name="Text 19"/>
          <p:cNvSpPr/>
          <p:nvPr/>
        </p:nvSpPr>
        <p:spPr>
          <a:xfrm>
            <a:off x="8101584" y="4599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613648" y="461772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recombina os resultados em um único DataFrame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101584" y="5330952"/>
            <a:ext cx="402336" cy="402336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24" name="Text 22"/>
          <p:cNvSpPr/>
          <p:nvPr/>
        </p:nvSpPr>
        <p:spPr>
          <a:xfrm>
            <a:off x="8101584" y="5330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613648" y="534924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motor de execução é sempre o Spark — pandas é só a célula de trabalho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64592"/>
            <a:ext cx="2560320" cy="347472"/>
          </a:xfrm>
          <a:prstGeom prst="roundRect">
            <a:avLst>
              <a:gd name="adj" fmla="val 13158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JDBC + POSTGRES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Gravando no banco de dados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943600" cy="4480560"/>
          </a:xfrm>
          <a:prstGeom prst="rect">
            <a:avLst/>
          </a:prstGeom>
          <a:solidFill>
            <a:srgbClr val="0D11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44752"/>
            <a:ext cx="5724144" cy="4334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Leitura de tabela Postgres via JDBC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spark.read.format("jdbc")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.option("url",    "jdbc:postgresql://postgres:5432/eedb")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.option("dbtable","trusted.bancos")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.option("user",   "postgres")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.option("password","postgres")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.option("driver","org.postgresql.Driver")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.load()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Escrita no Postgres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df.write.format("jdbc")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.option("url",    "jdbc:postgresql://postgres:5432/eedb")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.option("dbtable","delivery.tb_reclamacoes_bancos_funcionarios")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.option("user",   "postgres")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.option("driver","org.postgresql.Driver")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.mode("overwrite")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.save()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0" y="1371600"/>
            <a:ext cx="51206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25400" dir="2700000">
              <a:srgbClr val="8B9CB6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611112" y="1645920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611112" y="16459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🔌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315200" y="14813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Driver JDBC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0" y="1847088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driver org.postgresql:postgresql é baixado automaticamente via Maven no spark.jars.packages. Não é preciso copiar .jar manualmente.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583680" y="2651760"/>
            <a:ext cx="51206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25400" dir="2700000">
              <a:srgbClr val="8B9CB6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611112" y="2926080"/>
            <a:ext cx="585216" cy="585216"/>
          </a:xfrm>
          <a:prstGeom prst="ellipse">
            <a:avLst/>
          </a:prstGeom>
          <a:solidFill>
            <a:srgbClr val="00C2FF"/>
          </a:solidFill>
          <a:ln/>
        </p:spPr>
      </p:sp>
      <p:sp>
        <p:nvSpPr>
          <p:cNvPr id="15" name="Text 13"/>
          <p:cNvSpPr/>
          <p:nvPr/>
        </p:nvSpPr>
        <p:spPr>
          <a:xfrm>
            <a:off x="6611112" y="29260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315200" y="27614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Paralelismo na escrita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0" y="3127248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Spark divide o DataFrame em partições e cada executor abre sua própria conexão JDBC — a escrita é paralela por padrão.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583680" y="3931920"/>
            <a:ext cx="51206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25400" dir="2700000">
              <a:srgbClr val="8B9CB6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611112" y="4206240"/>
            <a:ext cx="585216" cy="585216"/>
          </a:xfrm>
          <a:prstGeom prst="ellipse">
            <a:avLst/>
          </a:prstGeom>
          <a:solidFill>
            <a:srgbClr val="E25A1C"/>
          </a:solidFill>
          <a:ln/>
        </p:spPr>
      </p:sp>
      <p:sp>
        <p:nvSpPr>
          <p:cNvPr id="20" name="Text 18"/>
          <p:cNvSpPr/>
          <p:nvPr/>
        </p:nvSpPr>
        <p:spPr>
          <a:xfrm>
            <a:off x="6611112" y="42062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315200" y="404164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Modo overwrite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0" y="4407408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+ CREATE TABLE automático. Alternativas: append (insere), ignore (não faz nada se existir), errorIfExists.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583680" y="5212080"/>
            <a:ext cx="51206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25400" dir="2700000">
              <a:srgbClr val="8B9CB6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611112" y="5486400"/>
            <a:ext cx="585216" cy="585216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25" name="Text 23"/>
          <p:cNvSpPr/>
          <p:nvPr/>
        </p:nvSpPr>
        <p:spPr>
          <a:xfrm>
            <a:off x="6611112" y="54864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🗂️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315200" y="532180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Schemas separados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315200" y="5687568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/ trusted / delivery isolam as camadas no mesmo banco. Facilita controle de acesso e auditoria de linhagem.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64592"/>
            <a:ext cx="2560320" cy="347472"/>
          </a:xfrm>
          <a:prstGeom prst="roundRect">
            <a:avLst>
              <a:gd name="adj" fmla="val 13158"/>
            </a:avLst>
          </a:prstGeom>
          <a:solidFill>
            <a:srgbClr val="00C2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COMPARATIVO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 vs PySpark — escolha certa para cada caso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200400" cy="411480"/>
          </a:xfrm>
          <a:prstGeom prst="rect">
            <a:avLst/>
          </a:prstGeom>
          <a:solidFill>
            <a:srgbClr val="2A3A5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9C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Dimensão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703320" y="1371600"/>
            <a:ext cx="3474720" cy="411480"/>
          </a:xfrm>
          <a:prstGeom prst="rect">
            <a:avLst/>
          </a:prstGeom>
          <a:solidFill>
            <a:srgbClr val="3D2B00"/>
          </a:solidFill>
          <a:ln/>
        </p:spPr>
      </p:sp>
      <p:sp>
        <p:nvSpPr>
          <p:cNvPr id="9" name="Text 7"/>
          <p:cNvSpPr/>
          <p:nvPr/>
        </p:nvSpPr>
        <p:spPr>
          <a:xfrm>
            <a:off x="3703320" y="1371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🐍  pandas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223760" y="1371600"/>
            <a:ext cx="4480560" cy="411480"/>
          </a:xfrm>
          <a:prstGeom prst="rect">
            <a:avLst/>
          </a:prstGeom>
          <a:solidFill>
            <a:srgbClr val="3D1A00"/>
          </a:solidFill>
          <a:ln/>
        </p:spPr>
      </p:sp>
      <p:sp>
        <p:nvSpPr>
          <p:cNvPr id="11" name="Text 9"/>
          <p:cNvSpPr/>
          <p:nvPr/>
        </p:nvSpPr>
        <p:spPr>
          <a:xfrm>
            <a:off x="7223760" y="13716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5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⚡  PySpark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810512"/>
            <a:ext cx="11247120" cy="475488"/>
          </a:xfrm>
          <a:prstGeom prst="rect">
            <a:avLst/>
          </a:prstGeom>
          <a:solidFill>
            <a:srgbClr val="18243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810512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de dados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49040" y="1810512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Memória da máquina (GBs)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223760" y="1810512"/>
            <a:ext cx="4480560" cy="475488"/>
          </a:xfrm>
          <a:prstGeom prst="rect">
            <a:avLst/>
          </a:prstGeom>
          <a:solidFill>
            <a:srgbClr val="3D1A00"/>
          </a:solidFill>
          <a:ln/>
        </p:spPr>
      </p:sp>
      <p:sp>
        <p:nvSpPr>
          <p:cNvPr id="16" name="Text 14"/>
          <p:cNvSpPr/>
          <p:nvPr/>
        </p:nvSpPr>
        <p:spPr>
          <a:xfrm>
            <a:off x="7269480" y="1810512"/>
            <a:ext cx="4370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5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Petabytes (cluster)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304288"/>
            <a:ext cx="11247120" cy="475488"/>
          </a:xfrm>
          <a:prstGeom prst="rect">
            <a:avLst/>
          </a:prstGeom>
          <a:solidFill>
            <a:srgbClr val="1E2D42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304288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703320" y="2304288"/>
            <a:ext cx="3474720" cy="475488"/>
          </a:xfrm>
          <a:prstGeom prst="rect">
            <a:avLst/>
          </a:prstGeom>
          <a:solidFill>
            <a:srgbClr val="3D2B00"/>
          </a:solidFill>
          <a:ln/>
        </p:spPr>
      </p:sp>
      <p:sp>
        <p:nvSpPr>
          <p:cNvPr id="20" name="Text 18"/>
          <p:cNvSpPr/>
          <p:nvPr/>
        </p:nvSpPr>
        <p:spPr>
          <a:xfrm>
            <a:off x="3749040" y="2304288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Mais concisa e direta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269480" y="2304288"/>
            <a:ext cx="4370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verbosa, mas previsível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798064"/>
            <a:ext cx="11247120" cy="475488"/>
          </a:xfrm>
          <a:prstGeom prst="rect">
            <a:avLst/>
          </a:prstGeom>
          <a:solidFill>
            <a:srgbClr val="18243A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2798064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Paralelismo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749040" y="2798064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GIL — 1 thread efetiva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223760" y="2798064"/>
            <a:ext cx="4480560" cy="475488"/>
          </a:xfrm>
          <a:prstGeom prst="rect">
            <a:avLst/>
          </a:prstGeom>
          <a:solidFill>
            <a:srgbClr val="3D1A00"/>
          </a:solidFill>
          <a:ln/>
        </p:spPr>
      </p:sp>
      <p:sp>
        <p:nvSpPr>
          <p:cNvPr id="26" name="Text 24"/>
          <p:cNvSpPr/>
          <p:nvPr/>
        </p:nvSpPr>
        <p:spPr>
          <a:xfrm>
            <a:off x="7269480" y="2798064"/>
            <a:ext cx="4370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5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Distribuído real (N workers)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291840"/>
            <a:ext cx="11247120" cy="475488"/>
          </a:xfrm>
          <a:prstGeom prst="rect">
            <a:avLst/>
          </a:prstGeom>
          <a:solidFill>
            <a:srgbClr val="1E2D42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3291840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de startup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703320" y="3291840"/>
            <a:ext cx="3474720" cy="475488"/>
          </a:xfrm>
          <a:prstGeom prst="rect">
            <a:avLst/>
          </a:prstGeom>
          <a:solidFill>
            <a:srgbClr val="3D2B00"/>
          </a:solidFill>
          <a:ln/>
        </p:spPr>
      </p:sp>
      <p:sp>
        <p:nvSpPr>
          <p:cNvPr id="30" name="Text 28"/>
          <p:cNvSpPr/>
          <p:nvPr/>
        </p:nvSpPr>
        <p:spPr>
          <a:xfrm>
            <a:off x="3749040" y="329184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Imediato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269480" y="3291840"/>
            <a:ext cx="4370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~10s (JVM + SparkSession)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3785616"/>
            <a:ext cx="11247120" cy="475488"/>
          </a:xfrm>
          <a:prstGeom prst="rect">
            <a:avLst/>
          </a:prstGeom>
          <a:solidFill>
            <a:srgbClr val="18243A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3785616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749040" y="3785616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Rápido em dados pequenos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223760" y="3785616"/>
            <a:ext cx="4480560" cy="475488"/>
          </a:xfrm>
          <a:prstGeom prst="rect">
            <a:avLst/>
          </a:prstGeom>
          <a:solidFill>
            <a:srgbClr val="3D1A00"/>
          </a:solidFill>
          <a:ln/>
        </p:spPr>
      </p:sp>
      <p:sp>
        <p:nvSpPr>
          <p:cNvPr id="36" name="Text 34"/>
          <p:cNvSpPr/>
          <p:nvPr/>
        </p:nvSpPr>
        <p:spPr>
          <a:xfrm>
            <a:off x="7269480" y="3785616"/>
            <a:ext cx="4370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5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Broadcast join em dados grandes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4279392"/>
            <a:ext cx="11247120" cy="475488"/>
          </a:xfrm>
          <a:prstGeom prst="rect">
            <a:avLst/>
          </a:prstGeom>
          <a:solidFill>
            <a:srgbClr val="1E2D42"/>
          </a:solidFill>
          <a:ln/>
        </p:spPr>
      </p:sp>
      <p:sp>
        <p:nvSpPr>
          <p:cNvPr id="38" name="Text 36"/>
          <p:cNvSpPr/>
          <p:nvPr/>
        </p:nvSpPr>
        <p:spPr>
          <a:xfrm>
            <a:off x="548640" y="4279392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matching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749040" y="4279392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serial em Python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223760" y="4279392"/>
            <a:ext cx="4480560" cy="475488"/>
          </a:xfrm>
          <a:prstGeom prst="rect">
            <a:avLst/>
          </a:prstGeom>
          <a:solidFill>
            <a:srgbClr val="3D1A00"/>
          </a:solidFill>
          <a:ln/>
        </p:spPr>
      </p:sp>
      <p:sp>
        <p:nvSpPr>
          <p:cNvPr id="41" name="Text 39"/>
          <p:cNvSpPr/>
          <p:nvPr/>
        </p:nvSpPr>
        <p:spPr>
          <a:xfrm>
            <a:off x="7269480" y="4279392"/>
            <a:ext cx="4370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5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mapInPandas: paralelo em workers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7200" y="4773168"/>
            <a:ext cx="11247120" cy="475488"/>
          </a:xfrm>
          <a:prstGeom prst="rect">
            <a:avLst/>
          </a:prstGeom>
          <a:solidFill>
            <a:srgbClr val="18243A"/>
          </a:solidFill>
          <a:ln/>
        </p:spPr>
      </p:sp>
      <p:sp>
        <p:nvSpPr>
          <p:cNvPr id="43" name="Text 41"/>
          <p:cNvSpPr/>
          <p:nvPr/>
        </p:nvSpPr>
        <p:spPr>
          <a:xfrm>
            <a:off x="548640" y="4773168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749040" y="4773168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(linha a linha)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223760" y="4773168"/>
            <a:ext cx="4480560" cy="475488"/>
          </a:xfrm>
          <a:prstGeom prst="rect">
            <a:avLst/>
          </a:prstGeom>
          <a:solidFill>
            <a:srgbClr val="3D1A00"/>
          </a:solidFill>
          <a:ln/>
        </p:spPr>
      </p:sp>
      <p:sp>
        <p:nvSpPr>
          <p:cNvPr id="46" name="Text 44"/>
          <p:cNvSpPr/>
          <p:nvPr/>
        </p:nvSpPr>
        <p:spPr>
          <a:xfrm>
            <a:off x="7269480" y="4773168"/>
            <a:ext cx="4370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5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JDBC paralelo (partições)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" y="5266944"/>
            <a:ext cx="11247120" cy="475488"/>
          </a:xfrm>
          <a:prstGeom prst="rect">
            <a:avLst/>
          </a:prstGeom>
          <a:solidFill>
            <a:srgbClr val="1E2D42"/>
          </a:solidFill>
          <a:ln/>
        </p:spPr>
      </p:sp>
      <p:sp>
        <p:nvSpPr>
          <p:cNvPr id="48" name="Text 46"/>
          <p:cNvSpPr/>
          <p:nvPr/>
        </p:nvSpPr>
        <p:spPr>
          <a:xfrm>
            <a:off x="548640" y="5266944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Formatos modernos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749040" y="5266944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CSV/JSON nativo, Parquet via arrow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223760" y="5266944"/>
            <a:ext cx="4480560" cy="475488"/>
          </a:xfrm>
          <a:prstGeom prst="rect">
            <a:avLst/>
          </a:prstGeom>
          <a:solidFill>
            <a:srgbClr val="3D1A00"/>
          </a:solidFill>
          <a:ln/>
        </p:spPr>
      </p:sp>
      <p:sp>
        <p:nvSpPr>
          <p:cNvPr id="51" name="Text 49"/>
          <p:cNvSpPr/>
          <p:nvPr/>
        </p:nvSpPr>
        <p:spPr>
          <a:xfrm>
            <a:off x="7269480" y="5266944"/>
            <a:ext cx="4370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5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Parquet/ORC/Avro nativo + predicado pushdown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57200" y="5760720"/>
            <a:ext cx="11247120" cy="475488"/>
          </a:xfrm>
          <a:prstGeom prst="rect">
            <a:avLst/>
          </a:prstGeom>
          <a:solidFill>
            <a:srgbClr val="18243A"/>
          </a:solidFill>
          <a:ln/>
        </p:spPr>
      </p:sp>
      <p:sp>
        <p:nvSpPr>
          <p:cNvPr id="53" name="Text 51"/>
          <p:cNvSpPr/>
          <p:nvPr/>
        </p:nvSpPr>
        <p:spPr>
          <a:xfrm>
            <a:off x="548640" y="5760720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de aprendizado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3703320" y="5760720"/>
            <a:ext cx="3474720" cy="475488"/>
          </a:xfrm>
          <a:prstGeom prst="rect">
            <a:avLst/>
          </a:prstGeom>
          <a:solidFill>
            <a:srgbClr val="3D2B00"/>
          </a:solidFill>
          <a:ln/>
        </p:spPr>
      </p:sp>
      <p:sp>
        <p:nvSpPr>
          <p:cNvPr id="55" name="Text 53"/>
          <p:cNvSpPr/>
          <p:nvPr/>
        </p:nvSpPr>
        <p:spPr>
          <a:xfrm>
            <a:off x="3749040" y="576072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Baixa — 1 API clara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269480" y="5760720"/>
            <a:ext cx="4370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— lazy eval, partições, DAG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" y="91440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91440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0160" y="91440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74520" y="91440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68880" y="91440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63240" y="91440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0" y="91440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51960" y="91440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91440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40680" y="91440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91440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29400" y="91440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23760" y="91440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18120" y="91440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91440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06840" y="91440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01200" y="91440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195560" y="91440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89920" y="91440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84280" y="91440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" y="758952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" y="758952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80160" y="758952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74520" y="758952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468880" y="758952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63240" y="758952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0" y="758952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51960" y="758952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46320" y="758952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40680" y="758952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35040" y="758952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629400" y="758952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0" y="758952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818120" y="758952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12480" y="758952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006840" y="758952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601200" y="758952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195560" y="758952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789920" y="758952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1384280" y="758952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1440" y="1426464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85800" y="1426464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280160" y="1426464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874520" y="1426464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468880" y="1426464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063240" y="1426464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657600" y="1426464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251960" y="1426464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846320" y="1426464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440680" y="1426464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035040" y="1426464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629400" y="1426464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223760" y="1426464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818120" y="1426464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412480" y="1426464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006840" y="1426464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601200" y="1426464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0195560" y="1426464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0789920" y="1426464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1384280" y="1426464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1440" y="2093976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85800" y="2093976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280160" y="2093976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874520" y="2093976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468880" y="2093976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063240" y="2093976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657600" y="2093976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251960" y="2093976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846320" y="2093976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440680" y="2093976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035040" y="2093976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629400" y="2093976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223760" y="2093976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818120" y="2093976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412480" y="2093976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9006840" y="2093976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9601200" y="2093976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0195560" y="2093976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0789920" y="2093976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1384280" y="2093976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1440" y="2761488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85800" y="2761488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280160" y="2761488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874520" y="2761488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468880" y="2761488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063240" y="2761488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657600" y="2761488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251960" y="2761488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846320" y="2761488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440680" y="2761488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035040" y="2761488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629400" y="2761488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223760" y="2761488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818120" y="2761488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412480" y="2761488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9006840" y="2761488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9601200" y="2761488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0195560" y="2761488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0789920" y="2761488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1384280" y="2761488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91440" y="3429000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685800" y="3429000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1280160" y="3429000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874520" y="3429000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2468880" y="3429000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063240" y="3429000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657600" y="3429000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251960" y="3429000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846320" y="3429000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5440680" y="3429000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6035040" y="3429000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6629400" y="3429000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7223760" y="3429000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7818120" y="3429000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8412480" y="3429000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9006840" y="3429000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9601200" y="3429000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10195560" y="3429000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10789920" y="3429000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11384280" y="3429000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91440" y="4096512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685800" y="4096512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1280160" y="4096512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1874520" y="4096512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2468880" y="4096512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3063240" y="4096512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3657600" y="4096512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251960" y="4096512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846320" y="4096512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5440680" y="4096512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6035040" y="4096512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6629400" y="4096512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7223760" y="4096512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7818120" y="4096512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8412480" y="4096512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9006840" y="4096512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9601200" y="4096512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10195560" y="4096512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10789920" y="4096512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11384280" y="4096512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91440" y="4764024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685800" y="4764024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1280160" y="4764024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1874520" y="4764024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2468880" y="4764024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3063240" y="4764024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3657600" y="4764024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4251960" y="4764024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4846320" y="4764024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440680" y="4764024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6035040" y="4764024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6629400" y="4764024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7223760" y="4764024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7818120" y="4764024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8412480" y="4764024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9006840" y="4764024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9601200" y="4764024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10195560" y="4764024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10789920" y="4764024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11384280" y="4764024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91440" y="5431536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685800" y="5431536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1280160" y="5431536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1874520" y="5431536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2468880" y="5431536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3063240" y="5431536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3657600" y="5431536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4251960" y="5431536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4846320" y="5431536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5440680" y="5431536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035040" y="5431536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629400" y="5431536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7223760" y="5431536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7818120" y="5431536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8412480" y="5431536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9006840" y="5431536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9601200" y="5431536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10195560" y="5431536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10789920" y="5431536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11384280" y="5431536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91440" y="6099048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685800" y="6099048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1280160" y="6099048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1874520" y="6099048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2468880" y="6099048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3063240" y="6099048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3657600" y="6099048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4251960" y="6099048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4846320" y="6099048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5440680" y="6099048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6035040" y="6099048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6629400" y="6099048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223760" y="6099048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818120" y="6099048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8412480" y="6099048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9006840" y="6099048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9601200" y="6099048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10195560" y="6099048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10789920" y="6099048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11384280" y="6099048"/>
            <a:ext cx="45720" cy="45720"/>
          </a:xfrm>
          <a:prstGeom prst="ellipse">
            <a:avLst/>
          </a:prstGeom>
          <a:solidFill>
            <a:srgbClr val="2A3A50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0" y="2194560"/>
            <a:ext cx="109728" cy="2560320"/>
          </a:xfrm>
          <a:prstGeom prst="rect">
            <a:avLst/>
          </a:prstGeom>
          <a:solidFill>
            <a:srgbClr val="E25A1C"/>
          </a:solidFill>
          <a:ln/>
        </p:spPr>
      </p:sp>
      <p:sp>
        <p:nvSpPr>
          <p:cNvPr id="204" name="Text 202"/>
          <p:cNvSpPr/>
          <p:nvPr/>
        </p:nvSpPr>
        <p:spPr>
          <a:xfrm>
            <a:off x="457200" y="45720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800" dirty="0"/>
          </a:p>
        </p:txBody>
      </p:sp>
      <p:sp>
        <p:nvSpPr>
          <p:cNvPr id="205" name="Text 203"/>
          <p:cNvSpPr/>
          <p:nvPr/>
        </p:nvSpPr>
        <p:spPr>
          <a:xfrm>
            <a:off x="457200" y="100584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PySpark não é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outro Python.</a:t>
            </a:r>
            <a:endParaRPr lang="en-US" sz="5200" dirty="0"/>
          </a:p>
        </p:txBody>
      </p:sp>
      <p:sp>
        <p:nvSpPr>
          <p:cNvPr id="206" name="Shape 204"/>
          <p:cNvSpPr/>
          <p:nvPr/>
        </p:nvSpPr>
        <p:spPr>
          <a:xfrm>
            <a:off x="548640" y="2834640"/>
            <a:ext cx="512064" cy="512064"/>
          </a:xfrm>
          <a:prstGeom prst="ellipse">
            <a:avLst/>
          </a:prstGeom>
          <a:solidFill>
            <a:srgbClr val="E25A1C"/>
          </a:solidFill>
          <a:ln/>
        </p:spPr>
      </p:sp>
      <p:sp>
        <p:nvSpPr>
          <p:cNvPr id="207" name="Text 205"/>
          <p:cNvSpPr/>
          <p:nvPr/>
        </p:nvSpPr>
        <p:spPr>
          <a:xfrm>
            <a:off x="548640" y="28346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208" name="Text 206"/>
          <p:cNvSpPr/>
          <p:nvPr/>
        </p:nvSpPr>
        <p:spPr>
          <a:xfrm>
            <a:off x="1188720" y="288036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Python como linguagem de descrição — quem executa é a JVM do Spark, distribuída.</a:t>
            </a:r>
            <a:endParaRPr lang="en-US" sz="1300" dirty="0"/>
          </a:p>
        </p:txBody>
      </p:sp>
      <p:sp>
        <p:nvSpPr>
          <p:cNvPr id="209" name="Shape 207"/>
          <p:cNvSpPr/>
          <p:nvPr/>
        </p:nvSpPr>
        <p:spPr>
          <a:xfrm>
            <a:off x="548640" y="3639312"/>
            <a:ext cx="512064" cy="512064"/>
          </a:xfrm>
          <a:prstGeom prst="ellipse">
            <a:avLst/>
          </a:prstGeom>
          <a:solidFill>
            <a:srgbClr val="E25A1C"/>
          </a:solidFill>
          <a:ln/>
        </p:spPr>
      </p:sp>
      <p:sp>
        <p:nvSpPr>
          <p:cNvPr id="210" name="Text 208"/>
          <p:cNvSpPr/>
          <p:nvPr/>
        </p:nvSpPr>
        <p:spPr>
          <a:xfrm>
            <a:off x="548640" y="36393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🗂️</a:t>
            </a:r>
            <a:endParaRPr lang="en-US" sz="2000" dirty="0"/>
          </a:p>
        </p:txBody>
      </p:sp>
      <p:sp>
        <p:nvSpPr>
          <p:cNvPr id="211" name="Text 209"/>
          <p:cNvSpPr/>
          <p:nvPr/>
        </p:nvSpPr>
        <p:spPr>
          <a:xfrm>
            <a:off x="1188720" y="3685032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API de DataFrame preserva a familiaridade do pandas com escala horizontal real.</a:t>
            </a:r>
            <a:endParaRPr lang="en-US" sz="1300" dirty="0"/>
          </a:p>
        </p:txBody>
      </p:sp>
      <p:sp>
        <p:nvSpPr>
          <p:cNvPr id="212" name="Shape 210"/>
          <p:cNvSpPr/>
          <p:nvPr/>
        </p:nvSpPr>
        <p:spPr>
          <a:xfrm>
            <a:off x="548640" y="4443984"/>
            <a:ext cx="512064" cy="512064"/>
          </a:xfrm>
          <a:prstGeom prst="ellipse">
            <a:avLst/>
          </a:prstGeom>
          <a:solidFill>
            <a:srgbClr val="E25A1C"/>
          </a:solidFill>
          <a:ln/>
        </p:spPr>
      </p:sp>
      <p:sp>
        <p:nvSpPr>
          <p:cNvPr id="213" name="Text 211"/>
          <p:cNvSpPr/>
          <p:nvPr/>
        </p:nvSpPr>
        <p:spPr>
          <a:xfrm>
            <a:off x="548640" y="44439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🔀</a:t>
            </a:r>
            <a:endParaRPr lang="en-US" sz="2000" dirty="0"/>
          </a:p>
        </p:txBody>
      </p:sp>
      <p:sp>
        <p:nvSpPr>
          <p:cNvPr id="214" name="Text 212"/>
          <p:cNvSpPr/>
          <p:nvPr/>
        </p:nvSpPr>
        <p:spPr>
          <a:xfrm>
            <a:off x="1188720" y="4489704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mapInPandas permite usar qualquer lib Python (RapidFuzz, Splink) dentro do Spark.</a:t>
            </a:r>
            <a:endParaRPr lang="en-US" sz="1300" dirty="0"/>
          </a:p>
        </p:txBody>
      </p:sp>
      <p:sp>
        <p:nvSpPr>
          <p:cNvPr id="215" name="Shape 213"/>
          <p:cNvSpPr/>
          <p:nvPr/>
        </p:nvSpPr>
        <p:spPr>
          <a:xfrm>
            <a:off x="548640" y="5248656"/>
            <a:ext cx="512064" cy="512064"/>
          </a:xfrm>
          <a:prstGeom prst="ellipse">
            <a:avLst/>
          </a:prstGeom>
          <a:solidFill>
            <a:srgbClr val="E25A1C"/>
          </a:solidFill>
          <a:ln/>
        </p:spPr>
      </p:sp>
      <p:sp>
        <p:nvSpPr>
          <p:cNvPr id="216" name="Text 214"/>
          <p:cNvSpPr/>
          <p:nvPr/>
        </p:nvSpPr>
        <p:spPr>
          <a:xfrm>
            <a:off x="548640" y="52486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🏛️</a:t>
            </a:r>
            <a:endParaRPr lang="en-US" sz="2000" dirty="0"/>
          </a:p>
        </p:txBody>
      </p:sp>
      <p:sp>
        <p:nvSpPr>
          <p:cNvPr id="217" name="Text 215"/>
          <p:cNvSpPr/>
          <p:nvPr/>
        </p:nvSpPr>
        <p:spPr>
          <a:xfrm>
            <a:off x="1188720" y="5294376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camadas RAW → Trusted → Delivery são o mesmo padrão Medallion Architecture da indústria.</a:t>
            </a:r>
            <a:endParaRPr lang="en-US" sz="1300" dirty="0"/>
          </a:p>
        </p:txBody>
      </p:sp>
      <p:sp>
        <p:nvSpPr>
          <p:cNvPr id="218" name="Text 216"/>
          <p:cNvSpPr/>
          <p:nvPr/>
        </p:nvSpPr>
        <p:spPr>
          <a:xfrm>
            <a:off x="457200" y="6492240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github.com/hrvfreitas/eEDB-022-03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2026-08-17T08:15:50Z</dcterms:created>
  <dcterms:modified xsi:type="dcterms:W3CDTF">2026-08-17T08:15:50Z</dcterms:modified>
</cp:coreProperties>
</file>